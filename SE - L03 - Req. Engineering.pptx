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8"/>
  </p:notesMasterIdLst>
  <p:sldIdLst>
    <p:sldId id="291" r:id="rId3"/>
    <p:sldId id="257" r:id="rId4"/>
    <p:sldId id="292" r:id="rId5"/>
    <p:sldId id="283" r:id="rId6"/>
    <p:sldId id="258" r:id="rId7"/>
    <p:sldId id="259" r:id="rId8"/>
    <p:sldId id="260" r:id="rId9"/>
    <p:sldId id="262" r:id="rId10"/>
    <p:sldId id="281" r:id="rId11"/>
    <p:sldId id="282" r:id="rId12"/>
    <p:sldId id="264" r:id="rId13"/>
    <p:sldId id="266" r:id="rId14"/>
    <p:sldId id="267" r:id="rId15"/>
    <p:sldId id="284" r:id="rId16"/>
    <p:sldId id="285" r:id="rId17"/>
    <p:sldId id="286" r:id="rId18"/>
    <p:sldId id="273" r:id="rId19"/>
    <p:sldId id="274" r:id="rId20"/>
    <p:sldId id="276" r:id="rId21"/>
    <p:sldId id="277" r:id="rId22"/>
    <p:sldId id="290" r:id="rId23"/>
    <p:sldId id="287" r:id="rId24"/>
    <p:sldId id="293" r:id="rId25"/>
    <p:sldId id="294" r:id="rId26"/>
    <p:sldId id="28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8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DC168054-07DD-43DB-905B-7CDE509D4BEF}"/>
    <pc:docChg chg="custSel modSld">
      <pc:chgData name="MD. RAIHAN MAHMUD" userId="4a62f7df-4410-48f1-90fd-18890a1620a6" providerId="ADAL" clId="{DC168054-07DD-43DB-905B-7CDE509D4BEF}" dt="2025-10-29T09:24:50.381" v="5" actId="1076"/>
      <pc:docMkLst>
        <pc:docMk/>
      </pc:docMkLst>
      <pc:sldChg chg="delSp modSp mod">
        <pc:chgData name="MD. RAIHAN MAHMUD" userId="4a62f7df-4410-48f1-90fd-18890a1620a6" providerId="ADAL" clId="{DC168054-07DD-43DB-905B-7CDE509D4BEF}" dt="2025-10-29T09:24:50.381" v="5" actId="1076"/>
        <pc:sldMkLst>
          <pc:docMk/>
          <pc:sldMk cId="2664565021" sldId="291"/>
        </pc:sldMkLst>
        <pc:spChg chg="del">
          <ac:chgData name="MD. RAIHAN MAHMUD" userId="4a62f7df-4410-48f1-90fd-18890a1620a6" providerId="ADAL" clId="{DC168054-07DD-43DB-905B-7CDE509D4BEF}" dt="2025-10-29T09:24:45.370" v="4" actId="478"/>
          <ac:spMkLst>
            <pc:docMk/>
            <pc:sldMk cId="2664565021" sldId="291"/>
            <ac:spMk id="5" creationId="{A7471D76-0639-7290-13D7-917D3AE9FE44}"/>
          </ac:spMkLst>
        </pc:spChg>
        <pc:spChg chg="mod">
          <ac:chgData name="MD. RAIHAN MAHMUD" userId="4a62f7df-4410-48f1-90fd-18890a1620a6" providerId="ADAL" clId="{DC168054-07DD-43DB-905B-7CDE509D4BEF}" dt="2025-10-29T09:24:50.381" v="5" actId="1076"/>
          <ac:spMkLst>
            <pc:docMk/>
            <pc:sldMk cId="2664565021" sldId="291"/>
            <ac:spMk id="24" creationId="{C2082529-78D7-4EA7-BFF9-A1D1F62040C8}"/>
          </ac:spMkLst>
        </pc:spChg>
        <pc:picChg chg="del">
          <ac:chgData name="MD. RAIHAN MAHMUD" userId="4a62f7df-4410-48f1-90fd-18890a1620a6" providerId="ADAL" clId="{DC168054-07DD-43DB-905B-7CDE509D4BEF}" dt="2025-10-29T09:24:42.673" v="3" actId="478"/>
          <ac:picMkLst>
            <pc:docMk/>
            <pc:sldMk cId="2664565021" sldId="291"/>
            <ac:picMk id="4" creationId="{D41DF543-9E14-C600-58F9-C406E47982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821F-B85F-4F63-AEF0-03AF46C0ED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99E1-E857-495E-86E1-0F1DAEED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"AES-256"</a:t>
            </a:r>
            <a:r>
              <a:rPr lang="en-US" dirty="0"/>
              <a:t>: Stands for </a:t>
            </a:r>
            <a:r>
              <a:rPr lang="en-US" b="1" dirty="0"/>
              <a:t>Advanced Encryption Standard</a:t>
            </a:r>
            <a:r>
              <a:rPr lang="en-US" dirty="0"/>
              <a:t> with a </a:t>
            </a:r>
            <a:r>
              <a:rPr lang="en-US" b="1" dirty="0"/>
              <a:t>256-bit key</a:t>
            </a:r>
            <a:r>
              <a:rPr lang="en-US" dirty="0"/>
              <a:t>, which is a strong, industry-standard encryption method used to secure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705124"/>
            <a:ext cx="8272212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5956138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5951812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5956138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software-engineering-challenges-eliciting-requirements/" TargetMode="External"/><Relationship Id="rId2" Type="http://schemas.openxmlformats.org/officeDocument/2006/relationships/hyperlink" Target="https://xebrio.com/what-is-requirements-management-a-complete-gui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gilebusiness.org/dsdm-project-framework/moscow-prioririsation.html" TargetMode="External"/><Relationship Id="rId5" Type="http://schemas.openxmlformats.org/officeDocument/2006/relationships/hyperlink" Target="https://www.atlassian.com/devops/what-is-devops/agile-vs-devops" TargetMode="External"/><Relationship Id="rId4" Type="http://schemas.openxmlformats.org/officeDocument/2006/relationships/hyperlink" Target="https://rnjn.in/glossary/boehms-la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576200" y="1614298"/>
            <a:ext cx="2308757" cy="3601101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576200" y="1614298"/>
            <a:ext cx="2308757" cy="360110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u="sng" cap="all" dirty="0">
                <a:solidFill>
                  <a:srgbClr val="FFFFFF"/>
                </a:solidFill>
              </a:rPr>
              <a:t>Course Name</a:t>
            </a:r>
            <a:br>
              <a:rPr lang="en-US" sz="1800" cap="all" dirty="0">
                <a:solidFill>
                  <a:srgbClr val="FFFFFF"/>
                </a:solidFill>
              </a:rPr>
            </a:br>
            <a:br>
              <a:rPr lang="en-US" sz="1800" cap="all" dirty="0">
                <a:solidFill>
                  <a:srgbClr val="FFFFFF"/>
                </a:solidFill>
              </a:rPr>
            </a:br>
            <a:r>
              <a:rPr lang="en-US" sz="18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3353691" y="1611631"/>
            <a:ext cx="5386427" cy="10375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250" dirty="0">
                <a:solidFill>
                  <a:srgbClr val="C00000"/>
                </a:solidFill>
              </a:rPr>
              <a:t>Chapter 3</a:t>
            </a:r>
            <a:br>
              <a:rPr lang="en-US" sz="2250" dirty="0">
                <a:solidFill>
                  <a:srgbClr val="C00000"/>
                </a:solidFill>
              </a:rPr>
            </a:br>
            <a:br>
              <a:rPr lang="en-US" sz="2250" dirty="0">
                <a:solidFill>
                  <a:schemeClr val="tx2"/>
                </a:solidFill>
              </a:rPr>
            </a:br>
            <a:r>
              <a:rPr lang="en-US" sz="2250" dirty="0">
                <a:solidFill>
                  <a:schemeClr val="tx2"/>
                </a:solidFill>
              </a:rPr>
              <a:t>Requirements engineering</a:t>
            </a:r>
            <a:endParaRPr lang="en-US" sz="225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5301964" y="4450909"/>
            <a:ext cx="4377498" cy="10701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MD RAIHAN MAHMUD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 dirty="0">
                <a:solidFill>
                  <a:schemeClr val="tx1"/>
                </a:solidFill>
                <a:hlinkClick r:id="rId3"/>
              </a:rPr>
              <a:t>raihan.mahmud@aiub.edu</a:t>
            </a:r>
            <a:r>
              <a:rPr lang="en-US" sz="2400" cap="none" dirty="0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3263081" y="145456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3255707" y="3084256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5172" y="481467"/>
            <a:ext cx="5388429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Table of Contents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799"/>
            <a:ext cx="8686800" cy="4547734"/>
          </a:xfrm>
        </p:spPr>
        <p:txBody>
          <a:bodyPr>
            <a:noAutofit/>
          </a:bodyPr>
          <a:lstStyle/>
          <a:p>
            <a:r>
              <a:rPr lang="en-US" sz="2700" dirty="0"/>
              <a:t>Introduction to Requirements in Software Engineering</a:t>
            </a:r>
          </a:p>
          <a:p>
            <a:r>
              <a:rPr lang="en-US" sz="2700" dirty="0"/>
              <a:t>Types of Software Requirements </a:t>
            </a:r>
          </a:p>
          <a:p>
            <a:r>
              <a:rPr lang="en-US" sz="2700" dirty="0"/>
              <a:t>Requirements Engineering Phases</a:t>
            </a:r>
          </a:p>
          <a:p>
            <a:r>
              <a:rPr lang="en-US" sz="2700" dirty="0"/>
              <a:t>Challenges in Requirements Engineering</a:t>
            </a:r>
          </a:p>
          <a:p>
            <a:r>
              <a:rPr lang="en-US" sz="2700" dirty="0"/>
              <a:t>Impact of Poor Requirements on Software Projects</a:t>
            </a:r>
          </a:p>
          <a:p>
            <a:r>
              <a:rPr lang="fr-FR" sz="2700" dirty="0" err="1"/>
              <a:t>Boehm’s</a:t>
            </a:r>
            <a:r>
              <a:rPr lang="fr-FR" sz="2700" dirty="0"/>
              <a:t> Law</a:t>
            </a:r>
          </a:p>
          <a:p>
            <a:r>
              <a:rPr lang="fr-FR" sz="2700" dirty="0"/>
              <a:t>User Stories vs SRS</a:t>
            </a:r>
          </a:p>
          <a:p>
            <a:r>
              <a:rPr lang="en-US" sz="2700" dirty="0"/>
              <a:t>The  Requirements  Baseline</a:t>
            </a:r>
          </a:p>
          <a:p>
            <a:r>
              <a:rPr lang="en-US" sz="2700" dirty="0"/>
              <a:t>Definition of Shift Left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9DF1-4972-F688-1E28-1A5CBDD5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2427-CF07-2526-E45F-6FCB66DD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5172" y="612095"/>
            <a:ext cx="9394371" cy="1143000"/>
          </a:xfrm>
        </p:spPr>
        <p:txBody>
          <a:bodyPr>
            <a:normAutofit/>
          </a:bodyPr>
          <a:lstStyle/>
          <a:p>
            <a:r>
              <a:rPr sz="4000" b="1" dirty="0"/>
              <a:t>Introduction to Requirements</a:t>
            </a:r>
            <a:r>
              <a:rPr lang="en-US" sz="4000" b="1" dirty="0"/>
              <a:t> in SE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B7F5-7406-87AE-6B0A-147863FA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92085"/>
            <a:ext cx="8686800" cy="3679371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The software requirements are description of features and functionalities of the target system.</a:t>
            </a:r>
          </a:p>
          <a:p>
            <a:pPr algn="just"/>
            <a:r>
              <a:rPr lang="en-US" sz="2200" dirty="0"/>
              <a:t>A condition or capability needed by a user to solve a problem or achieve an objective, or a condition or capability that must be met or possessed by a system or system component. </a:t>
            </a:r>
          </a:p>
          <a:p>
            <a:pPr algn="just"/>
            <a:r>
              <a:rPr lang="en-US" sz="2200" dirty="0"/>
              <a:t>Essentially, requirements specify what the software must do, how well it must perform and any constraints it must adhere to. </a:t>
            </a:r>
          </a:p>
          <a:p>
            <a:pPr algn="just"/>
            <a:r>
              <a:rPr lang="en-US" sz="2200" dirty="0"/>
              <a:t>For software projects to be successful, the Software Development Life Cycle (SDLC) is essential. </a:t>
            </a:r>
          </a:p>
        </p:txBody>
      </p:sp>
    </p:spTree>
    <p:extLst>
      <p:ext uri="{BB962C8B-B14F-4D97-AF65-F5344CB8AC3E}">
        <p14:creationId xmlns:p14="http://schemas.microsoft.com/office/powerpoint/2010/main" val="31143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Requirement Engineering Types 1">
            <a:extLst>
              <a:ext uri="{FF2B5EF4-FFF2-40B4-BE49-F238E27FC236}">
                <a16:creationId xmlns:a16="http://schemas.microsoft.com/office/drawing/2014/main" id="{D1EB7715-9F21-EBAF-3EC5-D4E86112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88" y="772205"/>
            <a:ext cx="7562686" cy="497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0E367-B69F-6A9E-0538-218048D15676}"/>
              </a:ext>
            </a:extLst>
          </p:cNvPr>
          <p:cNvSpPr txBox="1"/>
          <p:nvPr/>
        </p:nvSpPr>
        <p:spPr>
          <a:xfrm>
            <a:off x="2709663" y="6064415"/>
            <a:ext cx="372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1: Types of requirements in RE</a:t>
            </a:r>
          </a:p>
        </p:txBody>
      </p:sp>
    </p:spTree>
    <p:extLst>
      <p:ext uri="{BB962C8B-B14F-4D97-AF65-F5344CB8AC3E}">
        <p14:creationId xmlns:p14="http://schemas.microsoft.com/office/powerpoint/2010/main" val="379124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5710" y="395277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b="1" dirty="0"/>
              <a:t>Role of Requirements in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47" y="1803637"/>
            <a:ext cx="4354288" cy="4702629"/>
          </a:xfrm>
        </p:spPr>
        <p:txBody>
          <a:bodyPr>
            <a:normAutofit fontScale="77500" lnSpcReduction="20000"/>
          </a:bodyPr>
          <a:lstStyle/>
          <a:p>
            <a:r>
              <a:rPr lang="en-US" sz="2700" dirty="0"/>
              <a:t>Initial phase of project planning.</a:t>
            </a:r>
          </a:p>
          <a:p>
            <a:r>
              <a:rPr lang="en-US" sz="2700" dirty="0"/>
              <a:t>Basis for project estimation and planning.</a:t>
            </a:r>
          </a:p>
          <a:p>
            <a:r>
              <a:rPr lang="en-US" sz="2700" dirty="0"/>
              <a:t>Guides design, implementation, testing and maintenance.</a:t>
            </a:r>
          </a:p>
          <a:p>
            <a:r>
              <a:rPr lang="en-US" sz="2800" dirty="0"/>
              <a:t>SDLC offers an organized method that guarantees effectiveness, quality and risk reduction all the way through the development process. </a:t>
            </a:r>
          </a:p>
          <a:p>
            <a:r>
              <a:rPr lang="en-US" sz="2800" dirty="0"/>
              <a:t>Teams may satisfy client expectations, manage projects more effectively and produce dependable software by conforming to a specified SDLC. </a:t>
            </a:r>
          </a:p>
          <a:p>
            <a:endParaRPr lang="en-US" sz="2700" dirty="0"/>
          </a:p>
        </p:txBody>
      </p:sp>
      <p:pic>
        <p:nvPicPr>
          <p:cNvPr id="4" name="Picture 2" descr="Significance of Software Development Life Cycle (SDLC) | by ...">
            <a:extLst>
              <a:ext uri="{FF2B5EF4-FFF2-40B4-BE49-F238E27FC236}">
                <a16:creationId xmlns:a16="http://schemas.microsoft.com/office/drawing/2014/main" id="{77FD3AED-2D10-C0B4-7C77-865853A7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30" y="1883230"/>
            <a:ext cx="4093028" cy="41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6E463-FDB0-A8EF-A63D-D66C30D230EE}"/>
              </a:ext>
            </a:extLst>
          </p:cNvPr>
          <p:cNvSpPr txBox="1"/>
          <p:nvPr/>
        </p:nvSpPr>
        <p:spPr>
          <a:xfrm>
            <a:off x="5529942" y="5975703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2: SDLC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4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User Needs vs. System Requirements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FC1FC3-6059-DF77-8045-C863F0A07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00392"/>
              </p:ext>
            </p:extLst>
          </p:nvPr>
        </p:nvGraphicFramePr>
        <p:xfrm>
          <a:off x="740228" y="1525472"/>
          <a:ext cx="7794172" cy="455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086">
                  <a:extLst>
                    <a:ext uri="{9D8B030D-6E8A-4147-A177-3AD203B41FA5}">
                      <a16:colId xmlns:a16="http://schemas.microsoft.com/office/drawing/2014/main" val="2399255289"/>
                    </a:ext>
                  </a:extLst>
                </a:gridCol>
                <a:gridCol w="3897086">
                  <a:extLst>
                    <a:ext uri="{9D8B030D-6E8A-4147-A177-3AD203B41FA5}">
                      <a16:colId xmlns:a16="http://schemas.microsoft.com/office/drawing/2014/main" val="1012385970"/>
                    </a:ext>
                  </a:extLst>
                </a:gridCol>
              </a:tblGrid>
              <a:tr h="485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Needs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System Requirements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5270412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or expectations of the user.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Detailed technical specifications the system must fulfill.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8071247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user's point of view.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developer's or system designer's perspective.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4619926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Broad and general.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Specific, measurable and testable.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7343035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understand what users want or expect.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guide system design, development and testing.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06591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Business vs. Technical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194EBF-4BD1-585F-9B53-38EAE2576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917428"/>
              </p:ext>
            </p:extLst>
          </p:nvPr>
        </p:nvGraphicFramePr>
        <p:xfrm>
          <a:off x="457200" y="1600200"/>
          <a:ext cx="8229600" cy="448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47778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85856118"/>
                    </a:ext>
                  </a:extLst>
                </a:gridCol>
              </a:tblGrid>
              <a:tr h="443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Technical Requirements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60387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that the organization wants to achieve.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Specific technical solutions to meet business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457610"/>
                  </a:ext>
                </a:extLst>
              </a:tr>
              <a:tr h="764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What the business needs.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How the system will fulfill those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3708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business stakeholders (e.g., clients, managers).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technical team (e.g., developers, architects).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41611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Increase online sales by 20%, reduce processing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Use of a secure payment gateway, implementation of necessary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78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16152"/>
            <a:ext cx="70104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Non-Functional Requirements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0944"/>
            <a:ext cx="8686800" cy="4049486"/>
          </a:xfrm>
        </p:spPr>
        <p:txBody>
          <a:bodyPr/>
          <a:lstStyle/>
          <a:p>
            <a:pPr algn="just"/>
            <a:r>
              <a:rPr lang="en-US" dirty="0"/>
              <a:t>FR d</a:t>
            </a:r>
            <a:r>
              <a:rPr dirty="0"/>
              <a:t>efine</a:t>
            </a:r>
            <a:r>
              <a:rPr lang="en-US" dirty="0"/>
              <a:t>s</a:t>
            </a:r>
            <a:r>
              <a:rPr dirty="0"/>
              <a:t> system behavior and functions</a:t>
            </a:r>
            <a:r>
              <a:rPr lang="en-US" dirty="0"/>
              <a:t>.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dirty="0"/>
              <a:t>Example: “System must allow users to log in”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NFR defines system attributes like performance, usability.</a:t>
            </a:r>
          </a:p>
          <a:p>
            <a:pPr algn="just"/>
            <a:r>
              <a:rPr lang="en-US" dirty="0"/>
              <a:t>Often affect user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75A6-87C8-B477-F124-70743E1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unctional vs. Non Functional Requirements - GeeksforGeeks">
            <a:extLst>
              <a:ext uri="{FF2B5EF4-FFF2-40B4-BE49-F238E27FC236}">
                <a16:creationId xmlns:a16="http://schemas.microsoft.com/office/drawing/2014/main" id="{20FE9715-F3C6-4D21-1C7A-E8EF1AD76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Lightbox">
            <a:extLst>
              <a:ext uri="{FF2B5EF4-FFF2-40B4-BE49-F238E27FC236}">
                <a16:creationId xmlns:a16="http://schemas.microsoft.com/office/drawing/2014/main" id="{A5031F7D-A5E0-A0AA-7986-53494BA48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2188029" cy="218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comparison of a comparison between a system and a function&#10;&#10;AI-generated content may be incorrect.">
            <a:extLst>
              <a:ext uri="{FF2B5EF4-FFF2-40B4-BE49-F238E27FC236}">
                <a16:creationId xmlns:a16="http://schemas.microsoft.com/office/drawing/2014/main" id="{EB1826B3-86AB-C138-C446-656A88DD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850572"/>
            <a:ext cx="8883852" cy="41801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CB574E-79FF-E52C-213D-56BEAABB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900" y="174320"/>
            <a:ext cx="95250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 </a:t>
            </a:r>
            <a:br>
              <a:rPr lang="en-US" b="1" dirty="0"/>
            </a:br>
            <a:r>
              <a:rPr lang="en-US" b="1" dirty="0"/>
              <a:t>Non-Functional Requirements [Cont.]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418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B28-312E-9F76-DED9-7771B99E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10A4-42BF-9891-8E32-F536790D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User, System</a:t>
            </a:r>
            <a:r>
              <a:rPr lang="en-US" sz="3600" b="1" dirty="0"/>
              <a:t> </a:t>
            </a:r>
            <a:r>
              <a:rPr sz="3600" b="1" dirty="0"/>
              <a:t>and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D9D8-BC4C-A594-AE9C-EECDF4D7F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5543" cy="22860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User: What users expect to do</a:t>
            </a:r>
            <a:r>
              <a:rPr lang="en-US" dirty="0"/>
              <a:t>.</a:t>
            </a:r>
            <a:endParaRPr dirty="0"/>
          </a:p>
          <a:p>
            <a:r>
              <a:rPr dirty="0"/>
              <a:t>System: Detailed technical description</a:t>
            </a:r>
            <a:r>
              <a:rPr lang="en-US" dirty="0"/>
              <a:t>.</a:t>
            </a:r>
            <a:endParaRPr dirty="0"/>
          </a:p>
          <a:p>
            <a:r>
              <a:rPr dirty="0"/>
              <a:t>Business: Alignment with business goals</a:t>
            </a:r>
            <a:r>
              <a:rPr lang="en-US" dirty="0"/>
              <a:t>. From a business standpoint, business requirements specify what the software system must do in order for the company to reach its objectives.</a:t>
            </a:r>
            <a:endParaRPr dirty="0"/>
          </a:p>
        </p:txBody>
      </p:sp>
      <p:pic>
        <p:nvPicPr>
          <p:cNvPr id="4100" name="Picture 4" descr="Requirements Engineering ...">
            <a:extLst>
              <a:ext uri="{FF2B5EF4-FFF2-40B4-BE49-F238E27FC236}">
                <a16:creationId xmlns:a16="http://schemas.microsoft.com/office/drawing/2014/main" id="{48F247F7-6E34-2819-5EDC-01C07D32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1" y="3812263"/>
            <a:ext cx="5210856" cy="289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5781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/>
              <a:t>Examples of Critical NFRs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938111-A441-75C4-F17E-8AFDACA5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4270"/>
              </p:ext>
            </p:extLst>
          </p:nvPr>
        </p:nvGraphicFramePr>
        <p:xfrm>
          <a:off x="1001486" y="1428523"/>
          <a:ext cx="7532914" cy="5050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929">
                  <a:extLst>
                    <a:ext uri="{9D8B030D-6E8A-4147-A177-3AD203B41FA5}">
                      <a16:colId xmlns:a16="http://schemas.microsoft.com/office/drawing/2014/main" val="1934388709"/>
                    </a:ext>
                  </a:extLst>
                </a:gridCol>
                <a:gridCol w="3594985">
                  <a:extLst>
                    <a:ext uri="{9D8B030D-6E8A-4147-A177-3AD203B41FA5}">
                      <a16:colId xmlns:a16="http://schemas.microsoft.com/office/drawing/2014/main" val="556203004"/>
                    </a:ext>
                  </a:extLst>
                </a:gridCol>
              </a:tblGrid>
              <a:tr h="42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NFR 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58875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handle </a:t>
                      </a:r>
                      <a:r>
                        <a:rPr lang="en-US" b="1"/>
                        <a:t>1000 transactions per second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455448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Reliability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system shall have </a:t>
                      </a:r>
                      <a:r>
                        <a:rPr lang="en-US" b="1" dirty="0"/>
                        <a:t>99.99% uptime</a:t>
                      </a:r>
                      <a:r>
                        <a:rPr lang="en-US" dirty="0"/>
                        <a:t> over a 12-month period.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92287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Scalability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support </a:t>
                      </a:r>
                      <a:r>
                        <a:rPr lang="en-US" b="1"/>
                        <a:t>up to 10,000 concurrent users</a:t>
                      </a:r>
                      <a:r>
                        <a:rPr lang="en-US"/>
                        <a:t> without failure.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751056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user data shall be </a:t>
                      </a:r>
                      <a:r>
                        <a:rPr lang="en-US" b="1" dirty="0"/>
                        <a:t>encrypted using AES-256</a:t>
                      </a:r>
                      <a:r>
                        <a:rPr lang="en-US" dirty="0"/>
                        <a:t> during transmission.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44308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users shall be able to learn to use the system within </a:t>
                      </a:r>
                      <a:r>
                        <a:rPr lang="en-US" b="1" dirty="0"/>
                        <a:t>30 minutes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37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47" y="393047"/>
            <a:ext cx="8573038" cy="1043866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15" y="2044964"/>
            <a:ext cx="4426111" cy="3583133"/>
          </a:xfrm>
        </p:spPr>
        <p:txBody>
          <a:bodyPr anchor="t">
            <a:noAutofit/>
          </a:bodyPr>
          <a:lstStyle/>
          <a:p>
            <a:r>
              <a:rPr lang="en-US" sz="2500" dirty="0"/>
              <a:t>The phases are:</a:t>
            </a:r>
          </a:p>
          <a:p>
            <a:pPr marL="514350" indent="-514350">
              <a:buAutoNum type="arabicPeriod"/>
            </a:pPr>
            <a:r>
              <a:rPr lang="en-US" sz="2500" dirty="0"/>
              <a:t>Inception</a:t>
            </a:r>
          </a:p>
          <a:p>
            <a:pPr marL="514350" indent="-514350">
              <a:buAutoNum type="arabicPeriod"/>
            </a:pPr>
            <a:r>
              <a:rPr lang="en-US" sz="2500" dirty="0"/>
              <a:t>Elicitation </a:t>
            </a:r>
          </a:p>
          <a:p>
            <a:pPr marL="514350" indent="-514350">
              <a:buAutoNum type="arabicPeriod"/>
            </a:pPr>
            <a:r>
              <a:rPr lang="en-US" sz="2500" dirty="0"/>
              <a:t>Elaboration</a:t>
            </a:r>
          </a:p>
          <a:p>
            <a:pPr marL="514350" indent="-514350">
              <a:buAutoNum type="arabicPeriod"/>
            </a:pPr>
            <a:r>
              <a:rPr lang="en-US" sz="2500" dirty="0"/>
              <a:t>Negotiation</a:t>
            </a:r>
          </a:p>
          <a:p>
            <a:pPr marL="514350" indent="-514350">
              <a:buAutoNum type="arabicPeriod"/>
            </a:pPr>
            <a:r>
              <a:rPr lang="en-US" sz="2500" dirty="0"/>
              <a:t>Specification </a:t>
            </a:r>
          </a:p>
          <a:p>
            <a:pPr marL="514350" indent="-514350">
              <a:buAutoNum type="arabicPeriod"/>
            </a:pPr>
            <a:r>
              <a:rPr lang="en-US" sz="2500" dirty="0"/>
              <a:t>Validation </a:t>
            </a:r>
          </a:p>
          <a:p>
            <a:pPr marL="514350" indent="-514350">
              <a:buAutoNum type="arabicPeriod"/>
            </a:pPr>
            <a:r>
              <a:rPr lang="en-US" sz="2500" dirty="0"/>
              <a:t>Req. Management</a:t>
            </a:r>
          </a:p>
          <a:p>
            <a:pPr marL="514350" indent="-514350">
              <a:buAutoNum type="arabicPeriod"/>
            </a:pPr>
            <a:endParaRPr lang="en-US" sz="2500" dirty="0"/>
          </a:p>
          <a:p>
            <a:r>
              <a:rPr lang="en-US" sz="2500" dirty="0"/>
              <a:t>Cyclical and iterative process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C7ADEC58-A04C-E9B3-5CDD-2FA8A2E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372" y="2034091"/>
            <a:ext cx="4792009" cy="35940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022A30-B413-E773-5EEF-733057C24E85}"/>
              </a:ext>
            </a:extLst>
          </p:cNvPr>
          <p:cNvSpPr txBox="1"/>
          <p:nvPr/>
        </p:nvSpPr>
        <p:spPr>
          <a:xfrm>
            <a:off x="5435209" y="5628097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3: RE Phases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1. Inception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249022"/>
            <a:ext cx="8512629" cy="293914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phase involves identifying the initial idea and understanding the basic needs and scope of the project. </a:t>
            </a:r>
          </a:p>
          <a:p>
            <a:pPr algn="just"/>
            <a:r>
              <a:rPr lang="en-US" sz="2800" dirty="0"/>
              <a:t>It sets the foundation for further detailed analysis and planning.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CCC2DA-CACE-6C3A-34F8-20003F329DF0}"/>
              </a:ext>
            </a:extLst>
          </p:cNvPr>
          <p:cNvSpPr txBox="1">
            <a:spLocks/>
          </p:cNvSpPr>
          <p:nvPr/>
        </p:nvSpPr>
        <p:spPr>
          <a:xfrm>
            <a:off x="-97971" y="3713556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2. Elicitation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25329-D186-A1C5-A27E-D485F57E25C0}"/>
              </a:ext>
            </a:extLst>
          </p:cNvPr>
          <p:cNvSpPr txBox="1">
            <a:spLocks/>
          </p:cNvSpPr>
          <p:nvPr/>
        </p:nvSpPr>
        <p:spPr>
          <a:xfrm>
            <a:off x="533398" y="4391080"/>
            <a:ext cx="7794175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During elicitation, requirements are gathered from stakeholders using some techniques.</a:t>
            </a:r>
          </a:p>
          <a:p>
            <a:pPr algn="just"/>
            <a:r>
              <a:rPr lang="en-US" sz="2800" dirty="0"/>
              <a:t>Understanding stakeholders’ real needs.</a:t>
            </a:r>
          </a:p>
          <a:p>
            <a:pPr algn="just"/>
            <a:r>
              <a:rPr lang="en-US" sz="2800" dirty="0"/>
              <a:t>Techniques: Interviews, Surveys, Workshops.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B6A5-C308-FF78-D8D5-681758DE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DC9E-B8D7-8520-7035-3461AF63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3. Elaboration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CDAA-9525-A028-8213-B8950BB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this phase, requirements are analyzed and refined to resolve ambiguities, define detailed specifications and establish a clear understanding of functionalities of the system.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1D33E-D486-7EEA-F30E-3588CE1D506B}"/>
              </a:ext>
            </a:extLst>
          </p:cNvPr>
          <p:cNvSpPr txBox="1">
            <a:spLocks/>
          </p:cNvSpPr>
          <p:nvPr/>
        </p:nvSpPr>
        <p:spPr>
          <a:xfrm>
            <a:off x="-97971" y="3231372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4. Negotiation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5C55F-034E-4277-F6AF-824F92D75311}"/>
              </a:ext>
            </a:extLst>
          </p:cNvPr>
          <p:cNvSpPr txBox="1">
            <a:spLocks/>
          </p:cNvSpPr>
          <p:nvPr/>
        </p:nvSpPr>
        <p:spPr>
          <a:xfrm>
            <a:off x="315685" y="4141028"/>
            <a:ext cx="8545286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Here, conflicting requirements are resolved through discussions with stakeholders, prioritizing needs and reaching an agreement on the most feasible and valuable features.</a:t>
            </a:r>
          </a:p>
        </p:txBody>
      </p:sp>
    </p:spTree>
    <p:extLst>
      <p:ext uri="{BB962C8B-B14F-4D97-AF65-F5344CB8AC3E}">
        <p14:creationId xmlns:p14="http://schemas.microsoft.com/office/powerpoint/2010/main" val="207047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8804-D76C-2A7D-04DD-BFFEBFB7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63BE-5B0D-93B1-7C24-F7EFAFD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  5.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6EE-2341-2A0A-2E2E-3F60DD0A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Need to create a documentation based on requirements (like SRS, PRD).</a:t>
            </a:r>
          </a:p>
          <a:p>
            <a:pPr algn="just"/>
            <a:r>
              <a:rPr lang="en-US" sz="2800" dirty="0"/>
              <a:t>Clarity, consistency, completeness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AF0FA0-9348-5108-677F-5061AA91617F}"/>
              </a:ext>
            </a:extLst>
          </p:cNvPr>
          <p:cNvSpPr txBox="1">
            <a:spLocks/>
          </p:cNvSpPr>
          <p:nvPr/>
        </p:nvSpPr>
        <p:spPr>
          <a:xfrm>
            <a:off x="-293915" y="2891144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6. Validation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26E3F7-07B1-6648-1464-AE1B691F698D}"/>
              </a:ext>
            </a:extLst>
          </p:cNvPr>
          <p:cNvSpPr txBox="1">
            <a:spLocks/>
          </p:cNvSpPr>
          <p:nvPr/>
        </p:nvSpPr>
        <p:spPr>
          <a:xfrm>
            <a:off x="299357" y="3708655"/>
            <a:ext cx="8648700" cy="2679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This phase verifies that the documented requirements accurately reflect stakeholder needs and are feasible, ensuring that the system will meet its intended purpose.</a:t>
            </a:r>
          </a:p>
          <a:p>
            <a:pPr algn="just"/>
            <a:r>
              <a:rPr lang="en-US" sz="2800" dirty="0"/>
              <a:t>Checking for correctness, feasibility.</a:t>
            </a:r>
          </a:p>
          <a:p>
            <a:pPr algn="just"/>
            <a:r>
              <a:rPr lang="en-US" sz="2800" dirty="0"/>
              <a:t>Techniques: Reviews, Prototyping</a:t>
            </a:r>
          </a:p>
        </p:txBody>
      </p:sp>
    </p:spTree>
    <p:extLst>
      <p:ext uri="{BB962C8B-B14F-4D97-AF65-F5344CB8AC3E}">
        <p14:creationId xmlns:p14="http://schemas.microsoft.com/office/powerpoint/2010/main" val="99116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6FA5-18C1-F1F6-AAEE-03B78F10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AD91E3-729E-93DC-2E23-1A027DC28590}"/>
              </a:ext>
            </a:extLst>
          </p:cNvPr>
          <p:cNvSpPr txBox="1">
            <a:spLocks/>
          </p:cNvSpPr>
          <p:nvPr/>
        </p:nvSpPr>
        <p:spPr>
          <a:xfrm>
            <a:off x="-479115" y="554553"/>
            <a:ext cx="7151915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7. Requirements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6F10C7-A180-143B-2B88-0A1B620644B4}"/>
              </a:ext>
            </a:extLst>
          </p:cNvPr>
          <p:cNvSpPr txBox="1">
            <a:spLocks/>
          </p:cNvSpPr>
          <p:nvPr/>
        </p:nvSpPr>
        <p:spPr>
          <a:xfrm>
            <a:off x="408214" y="1389998"/>
            <a:ext cx="8648700" cy="203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Throughout the project, requirements are managed to accommodate changes, track revisions and ensure that the evolving needs are properly incorporated and controlled.</a:t>
            </a:r>
          </a:p>
        </p:txBody>
      </p:sp>
      <p:pic>
        <p:nvPicPr>
          <p:cNvPr id="11" name="Picture 10" descr="A circular object with text&#10;&#10;AI-generated content may be incorrect.">
            <a:extLst>
              <a:ext uri="{FF2B5EF4-FFF2-40B4-BE49-F238E27FC236}">
                <a16:creationId xmlns:a16="http://schemas.microsoft.com/office/drawing/2014/main" id="{9042B9AF-F0AA-3085-AFBA-C9AE6951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69" y="3151064"/>
            <a:ext cx="5955190" cy="3402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C72561-DEAD-6513-BA7E-07B0065FB0A7}"/>
              </a:ext>
            </a:extLst>
          </p:cNvPr>
          <p:cNvSpPr txBox="1"/>
          <p:nvPr/>
        </p:nvSpPr>
        <p:spPr>
          <a:xfrm>
            <a:off x="2944728" y="6285513"/>
            <a:ext cx="372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4: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10870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74638"/>
            <a:ext cx="9100457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Challenges in Requirements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A18C59-7FED-C7E3-3E88-CACDC2219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444261"/>
              </p:ext>
            </p:extLst>
          </p:nvPr>
        </p:nvGraphicFramePr>
        <p:xfrm>
          <a:off x="457200" y="1600200"/>
          <a:ext cx="8229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337611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530240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1738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Challenge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93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Incomplete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Some requirements are missing or not well-defined.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Leads to system failures or unmet user expectations.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1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Changing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Requirements evolve due to business, market, or user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Causes rework, delays, and increased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Ambiguous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Requirements are vague or open to multiple interpretations.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Results in incorrect 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5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Stakeholder Communication Gap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Misunderstandings between developers and non-technical stakeholders.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Misalignment between product and stakeholder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28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Lack of Domain Knowledge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team lacks understanding of the user’s environment or business.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Results in irrelevant or impractical system functionality.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443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98371" cy="1143000"/>
          </a:xfrm>
        </p:spPr>
        <p:txBody>
          <a:bodyPr>
            <a:normAutofit/>
          </a:bodyPr>
          <a:lstStyle/>
          <a:p>
            <a:r>
              <a:rPr sz="4000" b="1" dirty="0"/>
              <a:t>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6" y="1469571"/>
            <a:ext cx="8360228" cy="2231571"/>
          </a:xfrm>
        </p:spPr>
        <p:txBody>
          <a:bodyPr>
            <a:normAutofit lnSpcReduction="10000"/>
          </a:bodyPr>
          <a:lstStyle/>
          <a:p>
            <a:pPr algn="just"/>
            <a:r>
              <a:rPr dirty="0"/>
              <a:t>Uncontrolled changes in requirements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Impact: Delays, budget overruns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Prevention: Clear</a:t>
            </a:r>
            <a:r>
              <a:rPr lang="en-US" dirty="0"/>
              <a:t> </a:t>
            </a:r>
            <a:r>
              <a:rPr dirty="0"/>
              <a:t>documentation, approval processes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C9EB7-61B3-3C8C-8942-A919DF30E1EC}"/>
              </a:ext>
            </a:extLst>
          </p:cNvPr>
          <p:cNvSpPr txBox="1">
            <a:spLocks/>
          </p:cNvSpPr>
          <p:nvPr/>
        </p:nvSpPr>
        <p:spPr>
          <a:xfrm>
            <a:off x="696686" y="4272643"/>
            <a:ext cx="8229600" cy="197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Between stakeholders and developers.</a:t>
            </a:r>
          </a:p>
          <a:p>
            <a:pPr algn="just"/>
            <a:r>
              <a:rPr lang="en-US" dirty="0"/>
              <a:t>Causes misunderstandings.</a:t>
            </a:r>
          </a:p>
          <a:p>
            <a:pPr algn="just"/>
            <a:r>
              <a:rPr lang="en-US" dirty="0"/>
              <a:t>Solutions: Prototypes, regular meetings.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BEBF46-267F-8245-25FA-C5F50EB76A76}"/>
              </a:ext>
            </a:extLst>
          </p:cNvPr>
          <p:cNvSpPr txBox="1">
            <a:spLocks/>
          </p:cNvSpPr>
          <p:nvPr/>
        </p:nvSpPr>
        <p:spPr>
          <a:xfrm>
            <a:off x="-881744" y="3333524"/>
            <a:ext cx="73805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 Communication Gaps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104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4000" b="1" dirty="0"/>
              <a:t>Impact of Poor Requirements</a:t>
            </a:r>
            <a:r>
              <a:rPr lang="en-US" sz="4000" b="1" dirty="0"/>
              <a:t> in S/W Projects 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4790"/>
            <a:ext cx="8534400" cy="4983162"/>
          </a:xfrm>
        </p:spPr>
        <p:txBody>
          <a:bodyPr>
            <a:noAutofit/>
          </a:bodyPr>
          <a:lstStyle/>
          <a:p>
            <a:pPr algn="just"/>
            <a:r>
              <a:rPr sz="2600" dirty="0"/>
              <a:t>Inaccurate scope, budget issues</a:t>
            </a:r>
            <a:r>
              <a:rPr lang="en-US" sz="2600" dirty="0"/>
              <a:t>.</a:t>
            </a:r>
            <a:endParaRPr sz="2600" dirty="0"/>
          </a:p>
          <a:p>
            <a:pPr algn="just"/>
            <a:r>
              <a:rPr sz="2600" dirty="0"/>
              <a:t>Failed projects due to misunderstood requirements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Cause misunderstandings and misaligned expectations.  </a:t>
            </a:r>
          </a:p>
          <a:p>
            <a:pPr algn="just"/>
            <a:r>
              <a:rPr lang="en-US" sz="2600" dirty="0"/>
              <a:t>For example, the FBI Virtual Case File project failed because of vague and incomplete requirements, resulting in a significant budget overrun and eventual cancellation.</a:t>
            </a:r>
          </a:p>
          <a:p>
            <a:pPr algn="just"/>
            <a:r>
              <a:rPr lang="en-US" sz="2600" dirty="0"/>
              <a:t>Another case is the Denver International Airport's automated baggage handling system, which was plagued by unclear requirements, leading to extensive delays and cost overruns.</a:t>
            </a:r>
            <a:endParaRPr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44476"/>
            <a:ext cx="4114800" cy="1143000"/>
          </a:xfrm>
        </p:spPr>
        <p:txBody>
          <a:bodyPr>
            <a:normAutofit/>
          </a:bodyPr>
          <a:lstStyle/>
          <a:p>
            <a:r>
              <a:rPr sz="4000" b="1" dirty="0"/>
              <a:t>Boehm’s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According to Boehm's Law, commonly referred to as the Law of Costly Errors, the later a software flaw is discovered in the development lifecycle, the more expensive it is to solution. </a:t>
            </a:r>
          </a:p>
          <a:p>
            <a:pPr algn="just"/>
            <a:r>
              <a:rPr lang="en-US" dirty="0"/>
              <a:t>To put it simply, it will cost significantly more to fix a bug during testing than it will to cure it during developing and it will cost even more to solve a bug after the software has been deployed.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91D86-FA3A-F921-F382-B8D5946D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Boehm’s Law (Cont.)</a:t>
            </a:r>
          </a:p>
        </p:txBody>
      </p:sp>
      <p:pic>
        <p:nvPicPr>
          <p:cNvPr id="6" name="Content Placeholder 5" descr="A graph with arrows pointing to a line&#10;&#10;AI-generated content may be incorrect.">
            <a:extLst>
              <a:ext uri="{FF2B5EF4-FFF2-40B4-BE49-F238E27FC236}">
                <a16:creationId xmlns:a16="http://schemas.microsoft.com/office/drawing/2014/main" id="{3300B9E0-A3F0-B2BD-9464-6E180E73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844" y="1574020"/>
            <a:ext cx="5713413" cy="34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3E29-5E01-8D89-0E4C-70BA5D33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User Stories vs Traditional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F13681-9621-30DA-0C56-EA92EC4DE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435101"/>
              </p:ext>
            </p:extLst>
          </p:nvPr>
        </p:nvGraphicFramePr>
        <p:xfrm>
          <a:off x="1371600" y="2276797"/>
          <a:ext cx="6760030" cy="411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015">
                  <a:extLst>
                    <a:ext uri="{9D8B030D-6E8A-4147-A177-3AD203B41FA5}">
                      <a16:colId xmlns:a16="http://schemas.microsoft.com/office/drawing/2014/main" val="2332568039"/>
                    </a:ext>
                  </a:extLst>
                </a:gridCol>
                <a:gridCol w="3380015">
                  <a:extLst>
                    <a:ext uri="{9D8B030D-6E8A-4147-A177-3AD203B41FA5}">
                      <a16:colId xmlns:a16="http://schemas.microsoft.com/office/drawing/2014/main" val="867260561"/>
                    </a:ext>
                  </a:extLst>
                </a:gridCol>
              </a:tblGrid>
              <a:tr h="36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Stories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Traditional SRS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30622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Simple, informal sentence: “As a [user], I want [feature]…”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Formal, structured document with detailed sections and specifications.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48398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User needs and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System functionalities and technical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23680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Iterative, incremental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Upfront, comprehensive documentation.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125066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Lightweight and minimal (Agile: Scrum, XP etc.).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Heavyweight, exhaustive documentation (Waterfall, V-model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66799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Highly adaptable to change.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Difficult and costly to change once finalized.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4984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70CE0D-067F-F9DD-440D-9BA920A0BAD1}"/>
              </a:ext>
            </a:extLst>
          </p:cNvPr>
          <p:cNvSpPr txBox="1"/>
          <p:nvPr/>
        </p:nvSpPr>
        <p:spPr>
          <a:xfrm>
            <a:off x="1295400" y="1251857"/>
            <a:ext cx="6912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User stories: Simple, customer-focused statements.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SRS: Software Requirements Specification.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4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C25B-CDFB-EE65-FD2F-42660CDA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69C3-F8FE-1A1C-03D3-94C31942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4946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The  Requirements  Baseline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8A0A-42EA-07A4-0A9B-31418EE1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22161"/>
            <a:ext cx="8556171" cy="50350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highlight>
                  <a:srgbClr val="00FFFF"/>
                </a:highlight>
              </a:rPr>
              <a:t>A requirements baseline is a set of requirements that has been reviewed and agreed upon and serves as the basis for further development.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A meaningful baselining process gives all the major stakeholders confidence in the following ways: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Customer management</a:t>
            </a:r>
            <a:r>
              <a:rPr lang="en-US" sz="1800" dirty="0"/>
              <a:t> or marketing is confident that the project scope won’t explode out of control, because customers manage the scope change decisions.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User representatives </a:t>
            </a:r>
            <a:r>
              <a:rPr lang="en-US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Development management </a:t>
            </a:r>
            <a:r>
              <a:rPr lang="en-US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US" sz="1800" dirty="0"/>
            </a:br>
            <a:r>
              <a:rPr lang="en-US" sz="1800" dirty="0"/>
              <a:t>cost, functionality, and quality.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Business analysts </a:t>
            </a:r>
            <a:r>
              <a:rPr lang="en-US" sz="1800" dirty="0"/>
              <a:t>and project managers are confident that they can manage changes to the project in a way that will keep chaos to a minimum.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Quality assurance </a:t>
            </a:r>
            <a:r>
              <a:rPr lang="en-US" sz="1800" dirty="0"/>
              <a:t>and test teams can confidently develop their test scripts and be fully prepared for their project activities.</a:t>
            </a:r>
          </a:p>
        </p:txBody>
      </p:sp>
    </p:spTree>
    <p:extLst>
      <p:ext uri="{BB962C8B-B14F-4D97-AF65-F5344CB8AC3E}">
        <p14:creationId xmlns:p14="http://schemas.microsoft.com/office/powerpoint/2010/main" val="111644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D2E4-5F93-FD9A-55E0-B5F6BCA1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37DC-FC50-E6D4-C65C-6106A077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Shift-Left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12B7A-DAEC-C691-3A7D-2A1488EB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86820"/>
            <a:ext cx="8610600" cy="4525963"/>
          </a:xfrm>
        </p:spPr>
        <p:txBody>
          <a:bodyPr/>
          <a:lstStyle/>
          <a:p>
            <a:pPr algn="just"/>
            <a:r>
              <a:rPr lang="en-US" dirty="0"/>
              <a:t>A software testing approach that involves performing testing activities early in the software development life cycle (SDLC), typically during the requirements, design or development phases, instead of waiting until after implementation.</a:t>
            </a:r>
          </a:p>
          <a:p>
            <a:pPr algn="just"/>
            <a:r>
              <a:rPr dirty="0"/>
              <a:t>Shift-left testing: Test early</a:t>
            </a:r>
            <a:r>
              <a:rPr lang="en-US" dirty="0"/>
              <a:t>; Test before implementation;</a:t>
            </a: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est often using requirements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9405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F57A-175A-0F17-DB3A-3DDDA1D0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CCB1-F9F1-FC9F-4019-8335C5BE4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https://datarob.com/essentials-software-development-life-cycle/</a:t>
            </a:r>
          </a:p>
          <a:p>
            <a:r>
              <a:rPr lang="en-US" sz="2000" dirty="0">
                <a:hlinkClick r:id="rId2"/>
              </a:rPr>
              <a:t>https://www.geeksforgeeks.org/software-engineering/functional-vs-non-functional-requirements/</a:t>
            </a:r>
          </a:p>
          <a:p>
            <a:r>
              <a:rPr lang="en-US" sz="2000" dirty="0">
                <a:hlinkClick r:id="rId2"/>
              </a:rPr>
              <a:t>https://dribbble.com/shots/4715049-Requirement-Engineering-Process</a:t>
            </a:r>
          </a:p>
          <a:p>
            <a:r>
              <a:rPr lang="en-US" sz="2000" dirty="0">
                <a:hlinkClick r:id="rId2"/>
              </a:rPr>
              <a:t>https://xebrio.com/what-is-requirements-management-a-complete-guide/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3"/>
              </a:rPr>
              <a:t>https://www.geeksforgeeks.org/software-engineering/software-engineering-challenges-eliciting-requirements/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4"/>
              </a:rPr>
              <a:t>https://rnjn.in/glossary/boehms-law/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5"/>
              </a:rPr>
              <a:t>https://www.atlassian.com/devops/what-is-devops/agile-vs-devops</a:t>
            </a:r>
            <a:endParaRPr lang="en-US" sz="2000" dirty="0"/>
          </a:p>
          <a:p>
            <a:r>
              <a:rPr lang="en-US" sz="2000" dirty="0">
                <a:hlinkClick r:id="rId6"/>
              </a:rPr>
              <a:t>https://www.agilebusiness.org/dsdm-project-framework/moscow-prioririsation.html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297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1644</Words>
  <Application>Microsoft Office PowerPoint</Application>
  <PresentationFormat>On-screen Show (4:3)</PresentationFormat>
  <Paragraphs>186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Gill Sans MT</vt:lpstr>
      <vt:lpstr>Wingdings</vt:lpstr>
      <vt:lpstr>Wingdings 2</vt:lpstr>
      <vt:lpstr>Office Theme</vt:lpstr>
      <vt:lpstr>Dividend</vt:lpstr>
      <vt:lpstr>PowerPoint Presentation</vt:lpstr>
      <vt:lpstr>Table of Contents</vt:lpstr>
      <vt:lpstr>Introduction to Requirements in SE</vt:lpstr>
      <vt:lpstr>PowerPoint Presentation</vt:lpstr>
      <vt:lpstr>Role of Requirements in SDLC</vt:lpstr>
      <vt:lpstr>User Needs vs. System Requirements</vt:lpstr>
      <vt:lpstr>Business vs. Technical Requirements</vt:lpstr>
      <vt:lpstr>Functional Requirements and Non-Functional Requirements</vt:lpstr>
      <vt:lpstr>Functional Requirements and   Non-Functional Requirements [Cont.]</vt:lpstr>
      <vt:lpstr>User, System and Business Requirements</vt:lpstr>
      <vt:lpstr>Examples of Critical NFRs</vt:lpstr>
      <vt:lpstr>Requirements Engineering Phases</vt:lpstr>
      <vt:lpstr>1. Inception</vt:lpstr>
      <vt:lpstr>3. Elaboration</vt:lpstr>
      <vt:lpstr>  5. Specification</vt:lpstr>
      <vt:lpstr>PowerPoint Presentation</vt:lpstr>
      <vt:lpstr>Challenges in Requirements Engineering</vt:lpstr>
      <vt:lpstr>Scope Creep</vt:lpstr>
      <vt:lpstr>Impact of Poor Requirements in S/W Projects </vt:lpstr>
      <vt:lpstr>Boehm’s Law</vt:lpstr>
      <vt:lpstr>Boehm’s Law (Cont.)</vt:lpstr>
      <vt:lpstr>User Stories vs Traditional SRS</vt:lpstr>
      <vt:lpstr>The  Requirements  Baseline</vt:lpstr>
      <vt:lpstr>Shift-Left Testing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Teacher</dc:creator>
  <cp:keywords/>
  <dc:description>generated using python-pptx</dc:description>
  <cp:lastModifiedBy>MD. RAIHAN MAHMUD</cp:lastModifiedBy>
  <cp:revision>144</cp:revision>
  <dcterms:created xsi:type="dcterms:W3CDTF">2013-01-27T09:14:16Z</dcterms:created>
  <dcterms:modified xsi:type="dcterms:W3CDTF">2025-10-29T09:25:20Z</dcterms:modified>
  <cp:category/>
</cp:coreProperties>
</file>